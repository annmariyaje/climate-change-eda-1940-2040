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4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-0.108</c:v>
                </c:pt>
                <c:pt idx="1">
                  <c:v>8.5999999999999993E-2</c:v>
                </c:pt>
                <c:pt idx="2">
                  <c:v>0.28999999999999998</c:v>
                </c:pt>
                <c:pt idx="3">
                  <c:v>0.49099999999999999</c:v>
                </c:pt>
                <c:pt idx="4">
                  <c:v>0.69899999999999995</c:v>
                </c:pt>
                <c:pt idx="5">
                  <c:v>0.89700000000000002</c:v>
                </c:pt>
                <c:pt idx="6">
                  <c:v>1.0980000000000001</c:v>
                </c:pt>
                <c:pt idx="7">
                  <c:v>1.294</c:v>
                </c:pt>
                <c:pt idx="8">
                  <c:v>1.478</c:v>
                </c:pt>
                <c:pt idx="9">
                  <c:v>1.6850000000000001</c:v>
                </c:pt>
                <c:pt idx="10">
                  <c:v>1.8009999999999999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6D-4ACB-AC87-F226460B9E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(2020-2026)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-9.6000000000000002E-2</c:v>
                </c:pt>
                <c:pt idx="1">
                  <c:v>0.106</c:v>
                </c:pt>
                <c:pt idx="2">
                  <c:v>0.30599999999999999</c:v>
                </c:pt>
                <c:pt idx="3">
                  <c:v>0.52500000000000002</c:v>
                </c:pt>
                <c:pt idx="4">
                  <c:v>0.74199999999999999</c:v>
                </c:pt>
                <c:pt idx="5">
                  <c:v>0.95199999999999996</c:v>
                </c:pt>
                <c:pt idx="6">
                  <c:v>1.1499999999999999</c:v>
                </c:pt>
                <c:pt idx="7">
                  <c:v>1.371</c:v>
                </c:pt>
                <c:pt idx="8">
                  <c:v>1.573</c:v>
                </c:pt>
                <c:pt idx="9">
                  <c:v>1.79</c:v>
                </c:pt>
                <c:pt idx="10">
                  <c:v>1.903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6D-4ACB-AC87-F226460B9E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BAU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-9.4E-2</c:v>
                </c:pt>
                <c:pt idx="1">
                  <c:v>0.14000000000000001</c:v>
                </c:pt>
                <c:pt idx="2">
                  <c:v>0.39</c:v>
                </c:pt>
                <c:pt idx="3">
                  <c:v>0.63200000000000001</c:v>
                </c:pt>
                <c:pt idx="4">
                  <c:v>0.875</c:v>
                </c:pt>
                <c:pt idx="5">
                  <c:v>1.1060000000000001</c:v>
                </c:pt>
                <c:pt idx="6">
                  <c:v>1.3420000000000001</c:v>
                </c:pt>
                <c:pt idx="7">
                  <c:v>1.591</c:v>
                </c:pt>
                <c:pt idx="8">
                  <c:v>1.837</c:v>
                </c:pt>
                <c:pt idx="9">
                  <c:v>2.069</c:v>
                </c:pt>
                <c:pt idx="10">
                  <c:v>2.1949999999999998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6D-4ACB-AC87-F226460B9E6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Green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-0.13500000000000001</c:v>
                </c:pt>
                <c:pt idx="1">
                  <c:v>0</c:v>
                </c:pt>
                <c:pt idx="2">
                  <c:v>0.14199999999999999</c:v>
                </c:pt>
                <c:pt idx="3">
                  <c:v>0.28699999999999998</c:v>
                </c:pt>
                <c:pt idx="4">
                  <c:v>0.41199999999999998</c:v>
                </c:pt>
                <c:pt idx="5">
                  <c:v>0.56499999999999995</c:v>
                </c:pt>
                <c:pt idx="6">
                  <c:v>0.70199999999999996</c:v>
                </c:pt>
                <c:pt idx="7">
                  <c:v>0.84399999999999997</c:v>
                </c:pt>
                <c:pt idx="8">
                  <c:v>0.98399999999999999</c:v>
                </c:pt>
                <c:pt idx="9">
                  <c:v>1.1240000000000001</c:v>
                </c:pt>
                <c:pt idx="10">
                  <c:v>1.1819999999999999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D6D-4ACB-AC87-F226460B9E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Temperature Anomaly (°C)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CO2 (mt)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Oceania</c:v>
                </c:pt>
                <c:pt idx="1">
                  <c:v>Africa</c:v>
                </c:pt>
                <c:pt idx="2">
                  <c:v>North America</c:v>
                </c:pt>
                <c:pt idx="3">
                  <c:v>Europe</c:v>
                </c:pt>
                <c:pt idx="4">
                  <c:v>South America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454.8</c:v>
                </c:pt>
                <c:pt idx="1">
                  <c:v>453.6</c:v>
                </c:pt>
                <c:pt idx="2">
                  <c:v>404.6</c:v>
                </c:pt>
                <c:pt idx="3">
                  <c:v>395.6</c:v>
                </c:pt>
                <c:pt idx="4">
                  <c:v>393</c:v>
                </c:pt>
                <c:pt idx="5">
                  <c:v>335.5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2-4CB9-8E7E-B756DEAF95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Extreme Events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7F-48EA-A661-B6DA2C97E221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7F-48EA-A661-B6DA2C97E221}"/>
              </c:ext>
            </c:extLst>
          </c:dPt>
          <c:dPt>
            <c:idx val="2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7F-48EA-A661-B6DA2C97E221}"/>
              </c:ext>
            </c:extLst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7F-48EA-A661-B6DA2C97E221}"/>
              </c:ext>
            </c:extLst>
          </c:dPt>
          <c:dPt>
            <c:idx val="4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F7F-48EA-A661-B6DA2C97E221}"/>
              </c:ext>
            </c:extLst>
          </c:dPt>
          <c:dPt>
            <c:idx val="5"/>
            <c:bubble3D val="0"/>
            <c:spPr>
              <a:solidFill>
                <a:srgbClr val="8E7C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F7F-48EA-A661-B6DA2C97E22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7F-48EA-A661-B6DA2C97E22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7F-48EA-A661-B6DA2C97E22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7F-48EA-A661-B6DA2C97E22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7F-48EA-A661-B6DA2C97E22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F7F-48EA-A661-B6DA2C97E22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F7F-48EA-A661-B6DA2C97E22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North America</c:v>
                </c:pt>
                <c:pt idx="4">
                  <c:v>Oceania</c:v>
                </c:pt>
                <c:pt idx="5">
                  <c:v>South America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14499</c:v>
                </c:pt>
                <c:pt idx="1">
                  <c:v>58030</c:v>
                </c:pt>
                <c:pt idx="2">
                  <c:v>29099</c:v>
                </c:pt>
                <c:pt idx="3">
                  <c:v>14523</c:v>
                </c:pt>
                <c:pt idx="4">
                  <c:v>4798</c:v>
                </c:pt>
                <c:pt idx="5">
                  <c:v>24109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F7F-48EA-A661-B6DA2C97E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CO2 Emissions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302.44</c:v>
                </c:pt>
                <c:pt idx="1">
                  <c:v>319.51</c:v>
                </c:pt>
                <c:pt idx="2">
                  <c:v>337.97</c:v>
                </c:pt>
                <c:pt idx="3">
                  <c:v>356.14</c:v>
                </c:pt>
                <c:pt idx="4">
                  <c:v>373.86</c:v>
                </c:pt>
                <c:pt idx="5">
                  <c:v>394.19</c:v>
                </c:pt>
                <c:pt idx="6">
                  <c:v>409.99</c:v>
                </c:pt>
                <c:pt idx="7">
                  <c:v>428.86</c:v>
                </c:pt>
                <c:pt idx="8">
                  <c:v>447.59</c:v>
                </c:pt>
                <c:pt idx="9">
                  <c:v>465.73</c:v>
                </c:pt>
                <c:pt idx="10">
                  <c:v>475.76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55-4B93-B3AB-685FAA6CC8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Green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212.34</c:v>
                </c:pt>
                <c:pt idx="1">
                  <c:v>223.56</c:v>
                </c:pt>
                <c:pt idx="2">
                  <c:v>237.07</c:v>
                </c:pt>
                <c:pt idx="3">
                  <c:v>248.51</c:v>
                </c:pt>
                <c:pt idx="4">
                  <c:v>261.33</c:v>
                </c:pt>
                <c:pt idx="5">
                  <c:v>275.18</c:v>
                </c:pt>
                <c:pt idx="6">
                  <c:v>287.08999999999997</c:v>
                </c:pt>
                <c:pt idx="7">
                  <c:v>302.23</c:v>
                </c:pt>
                <c:pt idx="8">
                  <c:v>313.64999999999998</c:v>
                </c:pt>
                <c:pt idx="9">
                  <c:v>325.98</c:v>
                </c:pt>
                <c:pt idx="10">
                  <c:v>343.14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55-4B93-B3AB-685FAA6CC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Renewable Energy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3.16</c:v>
                </c:pt>
                <c:pt idx="1">
                  <c:v>5.35</c:v>
                </c:pt>
                <c:pt idx="2">
                  <c:v>8.81</c:v>
                </c:pt>
                <c:pt idx="3">
                  <c:v>12.17</c:v>
                </c:pt>
                <c:pt idx="4">
                  <c:v>15.49</c:v>
                </c:pt>
                <c:pt idx="5">
                  <c:v>18.96</c:v>
                </c:pt>
                <c:pt idx="6">
                  <c:v>22.36</c:v>
                </c:pt>
                <c:pt idx="7">
                  <c:v>25.95</c:v>
                </c:pt>
                <c:pt idx="8">
                  <c:v>29.63</c:v>
                </c:pt>
                <c:pt idx="9">
                  <c:v>32.57</c:v>
                </c:pt>
                <c:pt idx="10">
                  <c:v>34.299999999999997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51-4B95-9A70-A3EE676281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Green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3.3</c:v>
                </c:pt>
                <c:pt idx="1">
                  <c:v>6.62</c:v>
                </c:pt>
                <c:pt idx="2">
                  <c:v>10.9</c:v>
                </c:pt>
                <c:pt idx="3">
                  <c:v>15.92</c:v>
                </c:pt>
                <c:pt idx="4">
                  <c:v>20.059999999999999</c:v>
                </c:pt>
                <c:pt idx="5">
                  <c:v>24.7</c:v>
                </c:pt>
                <c:pt idx="6">
                  <c:v>29.25</c:v>
                </c:pt>
                <c:pt idx="7">
                  <c:v>33.590000000000003</c:v>
                </c:pt>
                <c:pt idx="8">
                  <c:v>38.57</c:v>
                </c:pt>
                <c:pt idx="9">
                  <c:v>43.06</c:v>
                </c:pt>
                <c:pt idx="10">
                  <c:v>45.34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51-4B95-9A70-A3EE67628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 Level (mm)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11.2</c:v>
                </c:pt>
                <c:pt idx="1">
                  <c:v>35.700000000000003</c:v>
                </c:pt>
                <c:pt idx="2">
                  <c:v>60.6</c:v>
                </c:pt>
                <c:pt idx="3">
                  <c:v>85.2</c:v>
                </c:pt>
                <c:pt idx="4">
                  <c:v>110</c:v>
                </c:pt>
                <c:pt idx="5">
                  <c:v>134.69999999999999</c:v>
                </c:pt>
                <c:pt idx="6">
                  <c:v>159.30000000000001</c:v>
                </c:pt>
                <c:pt idx="7">
                  <c:v>183.8</c:v>
                </c:pt>
                <c:pt idx="8">
                  <c:v>208.7</c:v>
                </c:pt>
                <c:pt idx="9">
                  <c:v>233.2</c:v>
                </c:pt>
                <c:pt idx="10">
                  <c:v>246.4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2-4FB3-AA68-54A07289F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Africa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3.03</c:v>
                </c:pt>
                <c:pt idx="1">
                  <c:v>5.43</c:v>
                </c:pt>
                <c:pt idx="2">
                  <c:v>8.99</c:v>
                </c:pt>
                <c:pt idx="3">
                  <c:v>12.69</c:v>
                </c:pt>
                <c:pt idx="4">
                  <c:v>15.61</c:v>
                </c:pt>
                <c:pt idx="5">
                  <c:v>19.149999999999999</c:v>
                </c:pt>
                <c:pt idx="6">
                  <c:v>22.85</c:v>
                </c:pt>
                <c:pt idx="7">
                  <c:v>25.91</c:v>
                </c:pt>
                <c:pt idx="8">
                  <c:v>29.99</c:v>
                </c:pt>
                <c:pt idx="9">
                  <c:v>33.340000000000003</c:v>
                </c:pt>
                <c:pt idx="10">
                  <c:v>34.21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4C-4D06-B86B-DA19993D73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3.04</c:v>
                </c:pt>
                <c:pt idx="1">
                  <c:v>5.27</c:v>
                </c:pt>
                <c:pt idx="2">
                  <c:v>8.48</c:v>
                </c:pt>
                <c:pt idx="3">
                  <c:v>12.4</c:v>
                </c:pt>
                <c:pt idx="4">
                  <c:v>15.93</c:v>
                </c:pt>
                <c:pt idx="5">
                  <c:v>19.37</c:v>
                </c:pt>
                <c:pt idx="6">
                  <c:v>22.87</c:v>
                </c:pt>
                <c:pt idx="7">
                  <c:v>26.32</c:v>
                </c:pt>
                <c:pt idx="8">
                  <c:v>29.86</c:v>
                </c:pt>
                <c:pt idx="9">
                  <c:v>33.32</c:v>
                </c:pt>
                <c:pt idx="10">
                  <c:v>34.799999999999997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4C-4D06-B86B-DA19993D73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</c:v>
                </c:pt>
                <c:pt idx="1">
                  <c:v>5.36</c:v>
                </c:pt>
                <c:pt idx="2">
                  <c:v>8.94</c:v>
                </c:pt>
                <c:pt idx="3">
                  <c:v>11.67</c:v>
                </c:pt>
                <c:pt idx="4">
                  <c:v>15.73</c:v>
                </c:pt>
                <c:pt idx="5">
                  <c:v>19.12</c:v>
                </c:pt>
                <c:pt idx="6">
                  <c:v>22.91</c:v>
                </c:pt>
                <c:pt idx="7">
                  <c:v>26.25</c:v>
                </c:pt>
                <c:pt idx="8">
                  <c:v>30.09</c:v>
                </c:pt>
                <c:pt idx="9">
                  <c:v>33.28</c:v>
                </c:pt>
                <c:pt idx="10">
                  <c:v>36.299999999999997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4C-4D06-B86B-DA19993D73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3.12</c:v>
                </c:pt>
                <c:pt idx="1">
                  <c:v>5.03</c:v>
                </c:pt>
                <c:pt idx="2">
                  <c:v>8.2100000000000009</c:v>
                </c:pt>
                <c:pt idx="3">
                  <c:v>11.84</c:v>
                </c:pt>
                <c:pt idx="4">
                  <c:v>15.7</c:v>
                </c:pt>
                <c:pt idx="5">
                  <c:v>19.350000000000001</c:v>
                </c:pt>
                <c:pt idx="6">
                  <c:v>23.11</c:v>
                </c:pt>
                <c:pt idx="7">
                  <c:v>26.04</c:v>
                </c:pt>
                <c:pt idx="8">
                  <c:v>29.71</c:v>
                </c:pt>
                <c:pt idx="9">
                  <c:v>33.520000000000003</c:v>
                </c:pt>
                <c:pt idx="10">
                  <c:v>36.5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4C-4D06-B86B-DA19993D738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Oceania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3.34</c:v>
                </c:pt>
                <c:pt idx="1">
                  <c:v>5.07</c:v>
                </c:pt>
                <c:pt idx="2">
                  <c:v>9.25</c:v>
                </c:pt>
                <c:pt idx="3">
                  <c:v>12.52</c:v>
                </c:pt>
                <c:pt idx="4">
                  <c:v>15.14</c:v>
                </c:pt>
                <c:pt idx="5">
                  <c:v>19.63</c:v>
                </c:pt>
                <c:pt idx="6">
                  <c:v>22.42</c:v>
                </c:pt>
                <c:pt idx="7">
                  <c:v>26.01</c:v>
                </c:pt>
                <c:pt idx="8">
                  <c:v>29.69</c:v>
                </c:pt>
                <c:pt idx="9">
                  <c:v>33.51</c:v>
                </c:pt>
                <c:pt idx="10">
                  <c:v>36.58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44C-4D06-B86B-DA19993D738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South America</c:v>
                </c:pt>
              </c:strCache>
            </c:strRef>
          </c:tx>
          <c:spPr>
            <a:ln w="25400" cap="flat">
              <a:solidFill>
                <a:srgbClr val="8E7CC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1940</c:v>
                </c:pt>
                <c:pt idx="1">
                  <c:v>1950</c:v>
                </c:pt>
                <c:pt idx="2">
                  <c:v>1960</c:v>
                </c:pt>
                <c:pt idx="3">
                  <c:v>1970</c:v>
                </c:pt>
                <c:pt idx="4">
                  <c:v>1980</c:v>
                </c:pt>
                <c:pt idx="5">
                  <c:v>1990</c:v>
                </c:pt>
                <c:pt idx="6">
                  <c:v>2000</c:v>
                </c:pt>
                <c:pt idx="7">
                  <c:v>2010</c:v>
                </c:pt>
                <c:pt idx="8">
                  <c:v>2020</c:v>
                </c:pt>
                <c:pt idx="9">
                  <c:v>2030</c:v>
                </c:pt>
                <c:pt idx="10">
                  <c:v>2040</c:v>
                </c:pt>
              </c:strCache>
            </c: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3.17</c:v>
                </c:pt>
                <c:pt idx="1">
                  <c:v>5.7</c:v>
                </c:pt>
                <c:pt idx="2">
                  <c:v>8.4</c:v>
                </c:pt>
                <c:pt idx="3">
                  <c:v>12.52</c:v>
                </c:pt>
                <c:pt idx="4">
                  <c:v>15.41</c:v>
                </c:pt>
                <c:pt idx="5">
                  <c:v>19.14</c:v>
                </c:pt>
                <c:pt idx="6">
                  <c:v>22.58</c:v>
                </c:pt>
                <c:pt idx="7">
                  <c:v>26.43</c:v>
                </c:pt>
                <c:pt idx="8">
                  <c:v>30.1</c:v>
                </c:pt>
                <c:pt idx="9">
                  <c:v>33.22</c:v>
                </c:pt>
                <c:pt idx="10">
                  <c:v>35.729999999999997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44C-4D06-B86B-DA19993D7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2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icon_glob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966960" y="1371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— FULL OVERVIEW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2514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Climate Change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100-Year Analysis (1940–2040) Across 30 Countries &amp; 4 Policy Scenarios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12,120 rows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13 columns  •  30 countries  •  6 regions  •  4 scenarios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"Global Climate Change (1940–2040)" by Abdul Malik Lodhra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tasks, from problem definition to final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 Selection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domain, dataset quality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9008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0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Pre-processing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data, duplicates, derived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7880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78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5262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Univariate/bivariate/multivariate + 10+ visuals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6752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67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53035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Conclusion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57150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shows, and what it means for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icon_leaf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274320" y="47091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Dataset Selection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CO2 emissions, temperature, and policy differ across Historical, Current, BAU, and Green futures?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548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6858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12,120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663440" y="1325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548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6858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92240" y="1325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21040" y="548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6858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321040" y="1325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149840" y="548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49840" y="6858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0149840" y="1325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2286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&amp; Domain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63440" y="269748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Environmental / Climate Science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"Global Climate Change (1940–2040)" by Abdul Malik Lodhra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climate_dataset_extended_1940_2040.csv (raw CSV, as required)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12,120 rows × 13 columns — well above the required minimum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663440" y="4343400"/>
            <a:ext cx="694944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44805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data go up to 2040?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663440" y="4800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us compare different possible futures — like what happens if the world keeps polluting (BAU) versus if it switches to clean energy (Green).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pic>
        <p:nvPicPr>
          <p:cNvPr id="3" name="Image 0" descr="icon_globe_deep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0835640" y="384048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Pre-processing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399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17647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0 missing across all 13 columns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2450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508760" y="28163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→ checked &amp; removed if found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08760" y="3502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508760" y="38679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correct as object dtype (Country/Region/Scenario) — no conversion needed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480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08760" y="4553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508760" y="49194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Decade, CO2_per_capita, GDP_per_capita_USD, Emissions_per_GDP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dataset is fully clean — 0 missing values, 0 duplicates after check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132588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21295C"/>
          </a:solidFill>
          <a:ln/>
        </p:spPr>
      </p:sp>
      <p:sp>
        <p:nvSpPr>
          <p:cNvPr id="27" name="Text 24"/>
          <p:cNvSpPr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df['Decade'] = (df['Year'] // 10) * 10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df['CO2_per_capita'] = (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df['CO2_Emissions_mt'] / df['Population_Million'])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4652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df['GDP_per_capita_USD'] = (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44652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df['GDP_Billion']/df['Population_Million']*1000)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4652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df['Emissions_per_GDP'] = (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44652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df['CO2_Emissions_mt'] / df['GDP_Billion'])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446520" y="4297680"/>
            <a:ext cx="489204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Filtering / aggregation example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4652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region_avg_temp = df.groupby('Region')[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446520" y="5074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'Temp_Anomaly_C'].mean().sort_values()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one thing at a time — like just CO2, or just temperature — to see the normal range and any extreme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011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things together — like CO2 and temperature, or clean energy and climate policy — to see if they move together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011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everything together using a color-coded heatmap, to spot all the connections at once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the Data for Comparison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scrolling through 12,120 rows, this groups the data into simple comparison tables.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average temperature by Region and Scenario, side by side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668012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pivot_temp = df.pivot_table(values='Temp_Anomaly_C', index='Region',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901184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columns='Scenario', aggfunc='mean')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134356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how key numbers changed, decade by decade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36752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decade_summary = df.groupby('Decade').agg(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600700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Avg_CO2=('CO2_Emissions_mt','mean'),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833872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Avg_Temp_Anomaly=('Temp_Anomaly_C','mean'),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067044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Avg_SeaLevel=('Sea_Level_mm','mean'))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Anomaly Over Time by Scenario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188720"/>
          <a:ext cx="740664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warming changes from 1940–2040 under 4 different futures.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one scenario: Historical, Current, BAU, Green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(red) rises the fastest — the "do nothing" future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(green) stays flattest — the "take action" future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lines widens after 2020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CO2 Emissions by Region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188720"/>
          <a:ext cx="740664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pollute the most, on average.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bar = more average CO2 emissions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 and Africa show the highest averages here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where emission-reduction efforts matter most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in million tonnes (mt)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Extreme Weather Events by Region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280160"/>
          <a:ext cx="65836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all extreme weather happened in each region.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= one region's share of the total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has the largest share, at 40%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follows at 20%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regions (Oceania) see far fewer extreme events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Methane Concentration</a:t>
            </a:r>
            <a:endParaRPr lang="en-US" sz="2200" dirty="0"/>
          </a:p>
        </p:txBody>
      </p:sp>
      <p:pic>
        <p:nvPicPr>
          <p:cNvPr id="4" name="Image 0" descr="chart_histo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731520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methane readings are spread across the whole dataset.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= methane amount (ppb); Y-axis = how many records had it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bar = that methane level is more common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curved line is a smoothed version of the same shape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cluster in a typical middle range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 Emissions Distribution by Scenario</a:t>
            </a:r>
            <a:endParaRPr lang="en-US" sz="2200" dirty="0"/>
          </a:p>
        </p:txBody>
      </p:sp>
      <p:pic>
        <p:nvPicPr>
          <p:cNvPr id="4" name="Image 0" descr="chart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731520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range and outliers of emissions, per scenario.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= the middle 50% of emission values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inside the box = the median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show the normal range; dots are outliers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compare spread, not just averages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 Emissions vs Temperature Anomaly</a:t>
            </a:r>
            <a:endParaRPr lang="en-US" sz="2200" dirty="0"/>
          </a:p>
        </p:txBody>
      </p:sp>
      <p:pic>
        <p:nvPicPr>
          <p:cNvPr id="4" name="Image 0" descr="chart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731520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two variables move together?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record from the dataset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line shows the overall trend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upward slope confirms: more CO2 tends to mean more warming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~0.46 correlation found earlier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2200" dirty="0"/>
          </a:p>
        </p:txBody>
      </p:sp>
      <p:pic>
        <p:nvPicPr>
          <p:cNvPr id="4" name="Image 0" descr="chart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75895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variable relates to every other variable, at a glance.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= strong positive relationship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 = strong negative relationship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color = little to no relationship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↔ Sea Level is nearly 0.98 — almost a perfect match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vs Green — Side by Side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" y="411480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126480" y="1234440"/>
            <a:ext cx="562356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55080" y="14173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355080" y="170992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"before vs after" comparison — what really happened, versus what could happen with strong climate action.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355080" y="2697480"/>
            <a:ext cx="516636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5080" y="2834640"/>
            <a:ext cx="5166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Green scenario shows lower CO2 emissions than Historical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Green scenario shows higher renewable energy adoption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period, same starting point — only the policy path differs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real gap between reality and an ambitious clean-energy push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 Level Rise by Decade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188720"/>
          <a:ext cx="740664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sea level has risen, decade by decade.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one decade's average sea level (mm)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get taller over time — rise is accelerating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noticeably after the 2000s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near-perfect link with temperature (~0.98)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Adoption by Region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188720"/>
          <a:ext cx="740664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clean energy use has grown differently across regions.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 the notebook (Plotly) — hover to see exact values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= one region's renewable energy % over time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regions adopt clean energy faster than others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spotting regional leaders and laggards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Forecast — Beyond 2040</a:t>
            </a:r>
            <a:endParaRPr lang="en-US" sz="2200" dirty="0"/>
          </a:p>
        </p:txBody>
      </p:sp>
      <p:pic>
        <p:nvPicPr>
          <p:cNvPr id="4" name="Image 0" descr="chart_foreca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731520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18872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21040" y="16642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trend 10 more years, to 2050.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2697480"/>
            <a:ext cx="320040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834640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lines (to 2040) = real data; dashed line marks where forecasting begins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simple Linear Regression to extend each scenario's trend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keeps climbing steepest; Green rises much more slowly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estimate, not a guaranteed outcome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globe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10058400" y="27432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4813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2020, the paths split apart.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43000" y="1801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stays cooler, BAU keeps heating 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134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2258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CO2 = more warming.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43000" y="25786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confirms it — they rise together.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906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30358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policy = more clean energy.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43000" y="33558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tougher climate rules use more renewables.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679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867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" y="38130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and North America pollute the most.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43000" y="41330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sense — they have the biggest economies and populations.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4515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645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3000" y="45902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levels are rising faster over time.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43000" y="4910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sped up a lot after the 2000s.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223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5422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43000" y="53675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isn't spread out evenly.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143000" y="56875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regions get hit a lot more than others.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182880"/>
            <a:ext cx="1508760" cy="150876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3" name="Image 0" descr="icon_lea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424160" y="41148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5544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0756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CO2, temperature, and sea levels have all been rising since 1940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2552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1272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2020, the future looks very different depending on what the world does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30682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changes (BAU) → things keep getting worse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35838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world goes green → things stay much more stable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5486400" cy="5074920"/>
          </a:xfrm>
          <a:prstGeom prst="roundRect">
            <a:avLst>
              <a:gd name="adj" fmla="val 1802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55448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46520" y="219456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/>
        </p:spPr>
      </p:sp>
      <p:sp>
        <p:nvSpPr>
          <p:cNvPr id="20" name="Shape 17"/>
          <p:cNvSpPr/>
          <p:nvPr/>
        </p:nvSpPr>
        <p:spPr>
          <a:xfrm>
            <a:off x="6675120" y="237744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0" y="23317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keep polluting like now,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32320" y="29718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keeps getting worse all the way to 2040 and beyond.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46520" y="384048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E8F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5120" y="4023360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0" y="39776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switch to clean energy and stronger policies,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132320" y="46177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slows down a lot.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46520" y="5623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today decides which future we get.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icon_glob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966960" y="1371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Change (1940–2040)  |  Data Analytics Final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Microsoft Office PowerPoint</Application>
  <PresentationFormat>Widescreen</PresentationFormat>
  <Paragraphs>226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 Mariya</cp:lastModifiedBy>
  <cp:revision>2</cp:revision>
  <dcterms:created xsi:type="dcterms:W3CDTF">2026-08-30T08:58:32Z</dcterms:created>
  <dcterms:modified xsi:type="dcterms:W3CDTF">2026-08-30T09:13:46Z</dcterms:modified>
</cp:coreProperties>
</file>